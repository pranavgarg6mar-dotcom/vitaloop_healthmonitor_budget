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64" r:id="rId5"/>
    <p:sldId id="268" r:id="rId6"/>
    <p:sldId id="258" r:id="rId7"/>
    <p:sldId id="265" r:id="rId8"/>
    <p:sldId id="259" r:id="rId9"/>
    <p:sldId id="262" r:id="rId10"/>
    <p:sldId id="269" r:id="rId11"/>
    <p:sldId id="260" r:id="rId12"/>
    <p:sldId id="263" r:id="rId13"/>
    <p:sldId id="261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572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79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A5C7-C62B-FB73-1AB0-3ADDF516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60485-4468-5577-1BC2-65036D9D9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CDC60-3A43-6583-C635-AD0D3121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70EA7-7E7E-EA0A-D02E-3AAB2FBD5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1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A5C7-C62B-FB73-1AB0-3ADDF516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60485-4468-5577-1BC2-65036D9D9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CDC60-3A43-6583-C635-AD0D3121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70EA7-7E7E-EA0A-D02E-3AAB2FBD5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26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B110-BBE1-AF54-95B1-847D4D1C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92662-4D4C-0FD7-EEC4-20D781F67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E7FB2-C332-FC9F-5AE4-AAC0E12C9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4E487-1BA4-7962-7C0C-EF60C5416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14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59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04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58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3534-F2D0-DA2C-CC7C-249488A5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B6C87-BA89-38DE-9202-2EC414E99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9DC38-74C3-E3A0-4F1F-867C88412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A4C8B-6AFC-A2E4-6C38-5C33EC14E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9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 ·  Medical Innovation &amp; Smart Healthcare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Worksheet  ·  Work through this together as a group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A4A8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Smartwatches with health sensors cost ₹5,000+ out of reach for most tier-2 India families. Yet heart rate and temperature data can be lifesaving for an elderly person with a heart condition.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200400"/>
            <a:ext cx="5650992" cy="3108960"/>
          </a:xfrm>
          <a:prstGeom prst="roundRect">
            <a:avLst>
              <a:gd name="adj" fmla="val 2353"/>
            </a:avLst>
          </a:prstGeom>
          <a:solidFill>
            <a:srgbClr val="0078D4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374904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low-cost wearable health monitor using electronic components under ₹500, measuring heart rate and body temperature. This worksheet covers research, ideation, and design.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50749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a research-based component and sensor plan  ·  a documented circuit and housing design  ·  a cost analysis and government scheme proposal, ready for the next round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C10C71-9C55-1B57-1BB2-CA4D3B8D8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3867"/>
            <a:ext cx="1381125" cy="581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SENSORS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how heart rate and body temperature are measured electronically (the PPG principle for heart rate; how digital or infrared temperature sensors work). Then compare 3 affordable heart rate sensors (e.g. Pulse Sensor, MAX30100, MAX30102) and 3 affordable temperature sensors (e.g. LM35, DS18B20, MLX90614) price, accuracy, and how each works.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268415"/>
            <a:ext cx="11457432" cy="4141811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12847"/>
            <a:ext cx="11457432" cy="4197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an optically obtained 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plethysmogram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detect blood volume changes in the microvascular bed of tissue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PPG is often obtained by using a pulse oximeter which illuminates the skin and measures changes in light absorption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62158-CE68-9CA6-B41C-4726216AF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98" y="243459"/>
            <a:ext cx="923925" cy="3619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79796"/>
              </p:ext>
            </p:extLst>
          </p:nvPr>
        </p:nvGraphicFramePr>
        <p:xfrm>
          <a:off x="365760" y="2724630"/>
          <a:ext cx="11430000" cy="376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19757983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79076965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0883757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60615938"/>
                    </a:ext>
                  </a:extLst>
                </a:gridCol>
              </a:tblGrid>
              <a:tr h="580398">
                <a:tc>
                  <a:txBody>
                    <a:bodyPr/>
                    <a:lstStyle/>
                    <a:p>
                      <a:r>
                        <a:rPr lang="en-IN" dirty="0" smtClean="0"/>
                        <a:t>Sensor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Price (INR)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How It Works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7008"/>
                  </a:ext>
                </a:extLst>
              </a:tr>
              <a:tr h="94233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Pulse Sensor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600 - 1200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r>
                        <a:rPr lang="en-US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-- 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at rest but very sensitive to motion and needs firm, steady contact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 green LED + photodiode + analog amplifier; outputs a raw waveform the microcontroller must filter in software to find beats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99023"/>
                  </a:ext>
                </a:extLst>
              </a:tr>
              <a:tr h="1081434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MAX30100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250 - 500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Good resting BPM; also gives basic SpO2 (blood oxygen)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Dual LED (red + IR) + photodetector + on-chip ambient-light cancellation and analog-to-digital conversion; communicates over I2C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179100"/>
                  </a:ext>
                </a:extLst>
              </a:tr>
              <a:tr h="1081434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MAX30102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350 - 700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Best of the three -- improved noise rejection and more stable SpO2 readings</a:t>
                      </a:r>
                      <a:endParaRPr lang="en-IN" sz="140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Same dual-LED principle as MAX30100 but improved optics, higher signal-to-noise ratio, and an internal FIFO buffer; the standard choice in most low-cost wearables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71167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959839"/>
            <a:ext cx="11457432" cy="5450387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12847"/>
            <a:ext cx="11457432" cy="4197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62158-CE68-9CA6-B41C-4726216AF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98" y="243459"/>
            <a:ext cx="923925" cy="3619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713086"/>
              </p:ext>
            </p:extLst>
          </p:nvPr>
        </p:nvGraphicFramePr>
        <p:xfrm>
          <a:off x="365760" y="958362"/>
          <a:ext cx="11430000" cy="5442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19757983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79076965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0883757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60615938"/>
                    </a:ext>
                  </a:extLst>
                </a:gridCol>
              </a:tblGrid>
              <a:tr h="672910">
                <a:tc>
                  <a:txBody>
                    <a:bodyPr/>
                    <a:lstStyle/>
                    <a:p>
                      <a:r>
                        <a:rPr lang="en-IN" dirty="0" smtClean="0"/>
                        <a:t>Sensor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Price (INR)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How It Works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7008"/>
                  </a:ext>
                </a:extLst>
              </a:tr>
              <a:tr h="141795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LM35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80 -150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±0.5°C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Analog silicon sensor; output voltage scales at 10 mV/°C; needs an ADC pin on the microcontroller; contact-based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99023"/>
                  </a:ext>
                </a:extLst>
              </a:tr>
              <a:tr h="1622872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DS18B20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 – 350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(300 – 500 for waterproof)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±0.5°C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 sensor with onboard ADC, communicates over a simple 1-Wire protocol (single data pin); contact-based, good for continuous </a:t>
                      </a:r>
                      <a:r>
                        <a:rPr lang="en-US" sz="1400" kern="120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wristband contact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179100"/>
                  </a:ext>
                </a:extLst>
              </a:tr>
              <a:tr h="172870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MLX90614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700 - 1300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±0.5°C (but sensitive to distance/angle to target)</a:t>
                      </a:r>
                      <a:endParaRPr lang="en-IN" sz="140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Infrared thermopile with onboard signal-processing chip; measures object and ambient temperature without touching skin, over I2C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711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99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44C79-7326-3729-27A8-2C4818A7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939437C-3A73-0332-3903-1C2B0C18E952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C8C7CC3-471F-5FCF-E49D-EA825CB9ED96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64B201-367D-E5F8-BB5B-1FC0E3461291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SENSORS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2C1C600-AA92-DD03-B51F-9DE3DA2E9045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C8E95CF-4316-7905-A9E4-CA01152CE215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3 affordable microcontroller options (e.g. Arduino Nano, ESP8266, ESP32) on price, size, power use, and ease of programming. Then research 2-3 existing low-cost health monitoring projects what sensors they used, what they cost, and how accurate they were.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9AA2B43-961F-8CA2-44C3-1A55036D4AA0}"/>
              </a:ext>
            </a:extLst>
          </p:cNvPr>
          <p:cNvSpPr/>
          <p:nvPr/>
        </p:nvSpPr>
        <p:spPr>
          <a:xfrm>
            <a:off x="365760" y="1913641"/>
            <a:ext cx="11457432" cy="4487159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EE0555-13DC-2591-C133-903D1F1588A1}"/>
              </a:ext>
            </a:extLst>
          </p:cNvPr>
          <p:cNvSpPr/>
          <p:nvPr/>
        </p:nvSpPr>
        <p:spPr>
          <a:xfrm>
            <a:off x="390898" y="1913641"/>
            <a:ext cx="11432294" cy="448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15B0E7-B20B-AE8B-2449-A90891FC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98" y="243459"/>
            <a:ext cx="923925" cy="361950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692374"/>
              </p:ext>
            </p:extLst>
          </p:nvPr>
        </p:nvGraphicFramePr>
        <p:xfrm>
          <a:off x="390900" y="1913640"/>
          <a:ext cx="11404860" cy="448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015">
                  <a:extLst>
                    <a:ext uri="{9D8B030D-6E8A-4147-A177-3AD203B41FA5}">
                      <a16:colId xmlns:a16="http://schemas.microsoft.com/office/drawing/2014/main" val="4153331693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371456808"/>
                    </a:ext>
                  </a:extLst>
                </a:gridCol>
                <a:gridCol w="2250831">
                  <a:extLst>
                    <a:ext uri="{9D8B030D-6E8A-4147-A177-3AD203B41FA5}">
                      <a16:colId xmlns:a16="http://schemas.microsoft.com/office/drawing/2014/main" val="2217035143"/>
                    </a:ext>
                  </a:extLst>
                </a:gridCol>
                <a:gridCol w="2356338">
                  <a:extLst>
                    <a:ext uri="{9D8B030D-6E8A-4147-A177-3AD203B41FA5}">
                      <a16:colId xmlns:a16="http://schemas.microsoft.com/office/drawing/2014/main" val="1045351700"/>
                    </a:ext>
                  </a:extLst>
                </a:gridCol>
                <a:gridCol w="3873891">
                  <a:extLst>
                    <a:ext uri="{9D8B030D-6E8A-4147-A177-3AD203B41FA5}">
                      <a16:colId xmlns:a16="http://schemas.microsoft.com/office/drawing/2014/main" val="4053737684"/>
                    </a:ext>
                  </a:extLst>
                </a:gridCol>
              </a:tblGrid>
              <a:tr h="493986">
                <a:tc>
                  <a:txBody>
                    <a:bodyPr/>
                    <a:lstStyle/>
                    <a:p>
                      <a:r>
                        <a:rPr lang="en-IN" dirty="0" smtClean="0"/>
                        <a:t>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Price(INR)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Battery Usage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Programming Ease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093309"/>
                  </a:ext>
                </a:extLst>
              </a:tr>
              <a:tr h="1331058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</a:t>
                      </a:r>
                      <a:r>
                        <a:rPr lang="en-I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Nano (clone/ counterfeit)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-200</a:t>
                      </a:r>
                    </a:p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 – 500 (genuine)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 18 mm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Low, no built-in wireless (draws less power than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boards)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C++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, Easiest due to being beginner – friendly , Arduino IDE, Compatible with Most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184823"/>
                  </a:ext>
                </a:extLst>
              </a:tr>
              <a:tr h="1331058"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ESP8266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150–300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 29 mm (</a:t>
                      </a:r>
                      <a:r>
                        <a:rPr lang="en-IN" sz="1400" kern="1200" baseline="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Amica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58 x 32 mm (</a:t>
                      </a:r>
                      <a:r>
                        <a:rPr lang="en-IN" sz="1400" kern="1200" baseline="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LoLin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Moderate —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radio draws noticeably more current in bursts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C++, Arduino IDE,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but fewer usable GPIO pins (~11) and only one analog pin (0–1V range)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111035"/>
                  </a:ext>
                </a:extLst>
              </a:tr>
              <a:tr h="1331058"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- 600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 x 25.5 x 3.1 mm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(WROOM – 32)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Moderate–higher — dual-core plus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Bluetooth, but more efficient per task than ESP8266 for equivalent work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C++,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Arduino IDE,</a:t>
                      </a: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, far more GPIO/ADC pins (34 pins, 12-bit ADC), can run </a:t>
                      </a:r>
                      <a:r>
                        <a:rPr lang="en-US" sz="1400" kern="1200" baseline="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FreeRTOS</a:t>
                      </a: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multitasking, better suited if the device will eventually connect to a phone app via Bluetooth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778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54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4C79-7326-3729-27A8-2C4818A7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939437C-3A73-0332-3903-1C2B0C18E952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C8C7CC3-471F-5FCF-E49D-EA825CB9ED96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64B201-367D-E5F8-BB5B-1FC0E3461291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2C1C600-AA92-DD03-B51F-9DE3DA2E9045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C8E95CF-4316-7905-A9E4-CA01152CE215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9AA2B43-961F-8CA2-44C3-1A55036D4AA0}"/>
              </a:ext>
            </a:extLst>
          </p:cNvPr>
          <p:cNvSpPr/>
          <p:nvPr/>
        </p:nvSpPr>
        <p:spPr>
          <a:xfrm>
            <a:off x="383344" y="879729"/>
            <a:ext cx="11457432" cy="5521071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 are some low-cost  health monitoring projects on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Instructables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information gained:-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SUMO: Smart Pulse Monitor (a Low Cost Smart ECG)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George is a pulse monitor that converts raw analog sensor data into BPM using a finger-insert tube sensor and an Arduino-class board with an LCD readout.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also uses an LDR to detect the light.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Oximeter with MAX30105,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SSD1306 OLED Screen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taste_the_code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similar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our own design: a MAX30105 (same sensor family as our MAX30102) on an ESP8266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displaying live BPM and SpO2 on an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OLED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HealthBand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Remotely Monitored Health Status Bracelet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ASCAS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wrist-worn band with remote monitoring,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resembling the wearable form factor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our own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aforementioned examples describe their accuracy. We gave perplexity a  prompt, which gave us the academic papers on the sensors used.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Below, is the conclusion we made from those papers.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2025 study tested a wrist-worn MAX30102 + ESP32-S3 wearable on 100 volunteers aged 50–80 against a reference fingertip pulse oximeter — reporting a heart-rate RMSE of 1.52 BPM, Bland-Altman agreement of roughly ±3 BPM, and an SpO2 RMSE under 0.65 percentage points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2022 study (JNTT) tested a MAX30100 + Arduino fingertip device on 20 participants against an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Elitech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clinical pulse oximeter, reporting a 0.84% mean SpO2 error and 1.6% mean heart-rate error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metrological validation study of the DS18B20 against a traceable Pt100 reference probe found an uncorrected mean error of 0.28–0.31°C, improving to 0.046–0.130°C after per-probe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calibration.</a:t>
            </a:r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EE0555-13DC-2591-C133-903D1F1588A1}"/>
              </a:ext>
            </a:extLst>
          </p:cNvPr>
          <p:cNvSpPr/>
          <p:nvPr/>
        </p:nvSpPr>
        <p:spPr>
          <a:xfrm>
            <a:off x="390898" y="841249"/>
            <a:ext cx="11432294" cy="5559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15B0E7-B20B-AE8B-2449-A90891FC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98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8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RESEARCH THE MARKET &amp; IMPACT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government health schemes for elderly (e.g. Ayushman Bharat, PM-JAY, ASHA worker programmes) - which could realistically use a low-cost health monitor, and how are devices typically procured?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29967"/>
            <a:ext cx="11457432" cy="4257711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Ayushman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Bharat – PM – JAY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Yojana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is India’s largest government-funded insurance scheme, giving eligible families 5 Lakh annual cashless cover.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recently been expanded so that all citizens aged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70+ receive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₹5 lakh cover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needless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income, specifically targeting elderly healthcare access. This scheme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hospitalization costs rather than home devices, but its Health &amp; Wellness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(HWCs) — 1.5 lakh+ built by converting sub-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primary health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are a natural distribution point for low-cost diagnostic devices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ASHA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are community health volunteers who visit households, especially in rural areas, to track basic health indicators, refer patients, and support government health campaigns. A ₹500 wearable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procured in bulk by the government/NGOs and issued to ASHA workers, who would use it during home visits to elderly patients rather than each elderly person buying one individually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devices would be procured via bulk tenders floated by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health departments or the National Health Mission, often via platforms like the Government e-Marketplace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sometimes supplemented by CSR funding from companies or NGO partnerships. Devices are distributed free or heavily subsidized to health workers and primary health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sold retail to patients.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people who can afford to make and modify the device they can access all the  code on the GitHub repository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nstructables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6240" y="2029967"/>
            <a:ext cx="11289792" cy="4257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E073F9-A3DF-AAB9-2EB0-39CA3EFF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8D5D9-49E1-5378-1AF8-52CDC826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F353187-CB55-5373-A9D4-C765D7A381F1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EE88952-9BA5-D199-F86E-C28D11E3D7B9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FC83C1B-7AFB-E7C2-4CD3-C8876C95F788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RESEARCH THE MARKET &amp; IMPACT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4DD4CA-11C5-2362-CDED-A87AFE8D1EBE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45F4141-D161-E40E-8F43-DDA2DB0E7D79}"/>
              </a:ext>
            </a:extLst>
          </p:cNvPr>
          <p:cNvSpPr/>
          <p:nvPr/>
        </p:nvSpPr>
        <p:spPr>
          <a:xfrm>
            <a:off x="39624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commercial health monitor prices (pulse oximeter, smartwatch, thermometer, BP monitor). Then calculate: if your device costs ₹500 and a commercial alternative costs ₹5,000, what % of the cost is that, and how many more people could be served for the same budget? Show your working.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68A0F36-6610-F963-6ADD-078D716A1950}"/>
              </a:ext>
            </a:extLst>
          </p:cNvPr>
          <p:cNvSpPr/>
          <p:nvPr/>
        </p:nvSpPr>
        <p:spPr>
          <a:xfrm>
            <a:off x="396240" y="1948065"/>
            <a:ext cx="11457432" cy="4580751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Pulse Oximeter costs 500 – 3000 INR.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Health-tracking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 1,500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5,000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for basic fitness bands,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5,000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for ones with reliable HR/SpO2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sensors INR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thermometer costs  150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 INR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monitor: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1,200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3,000 INR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500/5000 x 100 % = 10 %, It is 10 % of the cost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Let, the budget be b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b/500 = 10 x b/5000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 10 more people can be served with our cheaper device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-------------------------------------------------------------------------------------------------------------------------------------------------------------------------------------------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Also, Since a small device does not have a big screen area, the data needs to be relayed to a phone.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tier II and tier III families have phones for the younger kids and the elderly  don’t use them.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 their caretakers/ family will check the data on the phone for health insights.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0F7A22-FEBD-8ACA-1BEC-101B674E347F}"/>
              </a:ext>
            </a:extLst>
          </p:cNvPr>
          <p:cNvSpPr/>
          <p:nvPr/>
        </p:nvSpPr>
        <p:spPr>
          <a:xfrm>
            <a:off x="1046871" y="2214647"/>
            <a:ext cx="11426952" cy="3925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367997-9BDF-F334-7CD1-1C081C8E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1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CIRCUIT &amp; COMPONENTS</a:t>
            </a:r>
            <a:endParaRPr lang="en-US" sz="1300" dirty="0">
              <a:solidFill>
                <a:srgbClr val="0078D4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specific heart rate sensor, temperature sensor, and microcontroller justify each choice and list their costs. Then describe your complete circuit: how the sensors and microcontroller connect, and how the device will display its readings (screen, LEDs, or serial output).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938529"/>
            <a:ext cx="11457432" cy="4297884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B</a:t>
            </a:r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365760" y="1938529"/>
            <a:ext cx="11430000" cy="42978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Below is the explanation of the entire circuit employed in the device:-</a:t>
            </a:r>
          </a:p>
          <a:p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MAX30102 connects to the ESP32 over I2C(SDA → GPIO21, SCL → GPIO22) and 3.3V and </a:t>
            </a:r>
            <a:r>
              <a:rPr lang="en-US" sz="1400" dirty="0" smtClean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GND.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DS18B20 connects via its single data pin to a digital GPIO (e.g. GPIO4), with a 4.7kΩ pull-up resistor between data and 3.3V, plus power and GND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push buttons connect to two free digital GPIO pins (e.g. GPIO13, GPIO14), each with a pull-down resistor (or using the ESP32's internal pull-downs) so they read LOW when not pressed and HIGH when pressed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with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rechargeable Li-ion cell with a TP4056 charging/protection module, regulated to the ESP32's 3.3V/5V input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Relay/output has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broadcasts sensor readings over BLE at set intervals (e.g. every few minutes); a simple companion app on a family member's phone connects when in range, pulls the readings, and keeps a local history/trend log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home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or internet connection is required for the wearable-to-phone link itself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7B58B6-B560-A58F-4404-D70F9E11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5800"/>
              </p:ext>
            </p:extLst>
          </p:nvPr>
        </p:nvGraphicFramePr>
        <p:xfrm>
          <a:off x="338328" y="1938530"/>
          <a:ext cx="1145743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03">
                  <a:extLst>
                    <a:ext uri="{9D8B030D-6E8A-4147-A177-3AD203B41FA5}">
                      <a16:colId xmlns:a16="http://schemas.microsoft.com/office/drawing/2014/main" val="3899261811"/>
                    </a:ext>
                  </a:extLst>
                </a:gridCol>
                <a:gridCol w="2954215">
                  <a:extLst>
                    <a:ext uri="{9D8B030D-6E8A-4147-A177-3AD203B41FA5}">
                      <a16:colId xmlns:a16="http://schemas.microsoft.com/office/drawing/2014/main" val="2589715971"/>
                    </a:ext>
                  </a:extLst>
                </a:gridCol>
                <a:gridCol w="905608">
                  <a:extLst>
                    <a:ext uri="{9D8B030D-6E8A-4147-A177-3AD203B41FA5}">
                      <a16:colId xmlns:a16="http://schemas.microsoft.com/office/drawing/2014/main" val="1619385570"/>
                    </a:ext>
                  </a:extLst>
                </a:gridCol>
                <a:gridCol w="5799406">
                  <a:extLst>
                    <a:ext uri="{9D8B030D-6E8A-4147-A177-3AD203B41FA5}">
                      <a16:colId xmlns:a16="http://schemas.microsoft.com/office/drawing/2014/main" val="2932265634"/>
                    </a:ext>
                  </a:extLst>
                </a:gridCol>
              </a:tblGrid>
              <a:tr h="224378">
                <a:tc>
                  <a:txBody>
                    <a:bodyPr/>
                    <a:lstStyle/>
                    <a:p>
                      <a:r>
                        <a:rPr lang="en-IN" dirty="0" smtClean="0"/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Choice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Reason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72584"/>
                  </a:ext>
                </a:extLst>
              </a:tr>
              <a:tr h="497908"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Heart Rate Sensor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MAX30102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150-300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Best noise/motion tolerance of the affordable options, and SpO2 (oxygen) reading, which matters for elderly respiratory health  and it's available in I2C.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955025"/>
                  </a:ext>
                </a:extLst>
              </a:tr>
              <a:tr h="497908"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Temperature Sensor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DS18B20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150-200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Fully digital, single-wire interface with  reliable continuous skin-contact reading.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068968"/>
                  </a:ext>
                </a:extLst>
              </a:tr>
              <a:tr h="497908"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Microcontroller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ESP-32-WROOM-DevKit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250-350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Built-in Bluetooth Low Energy (BLE) relays readings to a phone without needing a screen on the wearable and has enough GPIO/ADC/I2C capacity to run both sensors.</a:t>
                      </a:r>
                      <a:endParaRPr lang="en-IN" sz="140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3919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1611504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841248"/>
            <a:ext cx="11457432" cy="5446536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53895"/>
            <a:ext cx="11183112" cy="24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power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cuts,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wearable runs on its own battery and is unaffected by a home power cut directly. BLE-to-phone relay is also more resilient than the earlier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doesn't depend on a home router (which loses power immediately)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phone's mobile network depends on the cell tower's backup power, which typically lasts hours through a typical outage. The real limits are: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The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and phone batteries will still eventually drain if the outage is very long, since they can't recharge without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mains.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Cell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towers themselves can eventually lose backup power in extended multi-day outages. We're being upfront in our proposal that this design is resilient to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typical(temporary)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outages, not indefinite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attery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(helped by dropping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OLED from most  similar projects)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our main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limitstion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a perfect product. However, one can use a power bank to charge both the phone and the device as a workaround.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CE09D-90FC-390F-FA8B-DDED157DC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7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CIRCUIT &amp; COMPONENTS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1611504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your full component budget (sensors, microcontroller, power, wiring, housing, display) to confirm it's under ₹500. If it's over, what would you cut? If under, what would </a:t>
            </a:r>
            <a:r>
              <a:rPr lang="en-US" sz="1250" dirty="0" smtClean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2434464"/>
            <a:ext cx="11457432" cy="3853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device has a cost of more than 500, if cutting costs is necessary, then:-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rechargeable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battery would be swapped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2×AA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(~₹30, though this loses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recharge ability),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just 1 button instead of 2, or source the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ESP32-WROOM-32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MAX30102 from a wholesale market instead of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(often 20–30% cheaper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boosts gained by NOT cutting costs are:-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 relay to a caregiver's phone for reading history/trends, on-demand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BLE re-sync via buttons, and a design that's more resilient to power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-dependent version</a:t>
            </a:r>
          </a:p>
        </p:txBody>
      </p:sp>
      <p:sp>
        <p:nvSpPr>
          <p:cNvPr id="12" name="Text 9"/>
          <p:cNvSpPr/>
          <p:nvPr/>
        </p:nvSpPr>
        <p:spPr>
          <a:xfrm>
            <a:off x="502920" y="2525904"/>
            <a:ext cx="6252443" cy="3604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CE09D-90FC-390F-FA8B-DDED157DC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86693"/>
              </p:ext>
            </p:extLst>
          </p:nvPr>
        </p:nvGraphicFramePr>
        <p:xfrm>
          <a:off x="6932644" y="2434465"/>
          <a:ext cx="4890548" cy="3895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274">
                  <a:extLst>
                    <a:ext uri="{9D8B030D-6E8A-4147-A177-3AD203B41FA5}">
                      <a16:colId xmlns:a16="http://schemas.microsoft.com/office/drawing/2014/main" val="780863821"/>
                    </a:ext>
                  </a:extLst>
                </a:gridCol>
                <a:gridCol w="2445274">
                  <a:extLst>
                    <a:ext uri="{9D8B030D-6E8A-4147-A177-3AD203B41FA5}">
                      <a16:colId xmlns:a16="http://schemas.microsoft.com/office/drawing/2014/main" val="2102342794"/>
                    </a:ext>
                  </a:extLst>
                </a:gridCol>
              </a:tblGrid>
              <a:tr h="354749">
                <a:tc>
                  <a:txBody>
                    <a:bodyPr/>
                    <a:lstStyle/>
                    <a:p>
                      <a:r>
                        <a:rPr lang="en-IN" dirty="0" smtClean="0"/>
                        <a:t>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479452"/>
                  </a:ext>
                </a:extLst>
              </a:tr>
              <a:tr h="41652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ESP-32-WROOM-DevKit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300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175225"/>
                  </a:ext>
                </a:extLst>
              </a:tr>
              <a:tr h="41652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Max30102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421594"/>
                  </a:ext>
                </a:extLst>
              </a:tr>
              <a:tr h="41652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DS18B20 temperature sensor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980006"/>
                  </a:ext>
                </a:extLst>
              </a:tr>
              <a:tr h="41652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2× tactile push buttons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88423"/>
                  </a:ext>
                </a:extLst>
              </a:tr>
              <a:tr h="502561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Li-ion battery + TP4056 charging module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63627"/>
                  </a:ext>
                </a:extLst>
              </a:tr>
              <a:tr h="416526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Wiring connectors,</a:t>
                      </a:r>
                      <a:r>
                        <a:rPr lang="en-IN" sz="1400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kern="12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perfboard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429844"/>
                  </a:ext>
                </a:extLst>
              </a:tr>
              <a:tr h="502561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Basic housing (3D-printed</a:t>
                      </a:r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wristband case)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82468"/>
                  </a:ext>
                </a:extLst>
              </a:tr>
              <a:tr h="410820">
                <a:tc>
                  <a:txBody>
                    <a:bodyPr/>
                    <a:lstStyle/>
                    <a:p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875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45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99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DESIGN THE HOUSING &amp; TEST PLAN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wearable housing: where it's worn (wrist, finger, arm), what materials, roughly what size, and how the sensors will contact the body comfortably and safely.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972637"/>
            <a:ext cx="11457432" cy="4119937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365760" y="306324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your sketch here  -  In PowerPoint: Insert → Pictures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9CF5B-64CC-F764-6ECD-50E36FE5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8793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DESIGN THE HOUSING &amp; TEST PLAN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1483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calibration test protocol for later: how many test subjects, how many readings each, what commercial device you'll compare against, and how you'll calculate accuracy (average error, % accuracy). This is your plan, not the actual test.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2352271"/>
            <a:ext cx="11457432" cy="3822497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43712"/>
            <a:ext cx="11183112" cy="342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Test subjects: </a:t>
            </a:r>
            <a:r>
              <a:rPr lang="en-US" sz="1400" dirty="0" smtClean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50 </a:t>
            </a: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volunteers spanning a range of ages (ideally including some elderly participants, with consent/guardian involvement as needed) to reflect real-world skin thickness, circulation, and mobility </a:t>
            </a:r>
            <a:r>
              <a:rPr lang="en-US" sz="1400" dirty="0" smtClean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differences.</a:t>
            </a:r>
          </a:p>
          <a:p>
            <a:endParaRPr lang="en-US" sz="1400" dirty="0" smtClean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 per subject: 5 readings per subject, spaced a few minutes apart, at rest (to reduce motion-related noise for a fair comparison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Reference/commercial comparison device: a standard commercial pulse oximeter (for heart rate/SpO2 cross-check) and a digital thermometer (for body temperature cross-check) — both should ideally be certified/branded devices to serve as reliable ground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calculation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= average of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device's reading − commercial device's reading| across all readings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100% − (average error ÷ average reference reading × 100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%).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reads 76 BPM and the reference reads 74 BPM, error = 2 BPM; repeat across all readings and average the errors, then convert to a percentage relative to typical BPM values (e.g. ~70–80 BPM at rest).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7DDB1-668E-25BF-4513-9F88F99F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COST ANALYSIS &amp; PROPOSAL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your manufacturing cost at different scales prototype (1 unit), 10 units, and 1000 units. How would bulk buying change your per-unit cost?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883663"/>
            <a:ext cx="11457432" cy="4370833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883663"/>
            <a:ext cx="11457432" cy="4370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components directly from manufacturers/distributors instead of retail suppliers cuts costs significantly, since retail markups (and small-order shipping/handling) disappear at scale. Moving from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perfboard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/breadboard assembly to a purpose-designed PCB also reduces both material waste and assembly time per unit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biggest cost reduction typically comes from combining component bulk-pricing and moving to a proper PCB design at the 1,000-unit stage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7A1660-6653-19B7-6AE0-AF9D1B5E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162"/>
            <a:ext cx="923925" cy="361950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308"/>
              </p:ext>
            </p:extLst>
          </p:nvPr>
        </p:nvGraphicFramePr>
        <p:xfrm>
          <a:off x="365759" y="3072382"/>
          <a:ext cx="11457432" cy="3182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03">
                  <a:extLst>
                    <a:ext uri="{9D8B030D-6E8A-4147-A177-3AD203B41FA5}">
                      <a16:colId xmlns:a16="http://schemas.microsoft.com/office/drawing/2014/main" val="808498100"/>
                    </a:ext>
                  </a:extLst>
                </a:gridCol>
                <a:gridCol w="2848707">
                  <a:extLst>
                    <a:ext uri="{9D8B030D-6E8A-4147-A177-3AD203B41FA5}">
                      <a16:colId xmlns:a16="http://schemas.microsoft.com/office/drawing/2014/main" val="1033449978"/>
                    </a:ext>
                  </a:extLst>
                </a:gridCol>
                <a:gridCol w="7673222">
                  <a:extLst>
                    <a:ext uri="{9D8B030D-6E8A-4147-A177-3AD203B41FA5}">
                      <a16:colId xmlns:a16="http://schemas.microsoft.com/office/drawing/2014/main" val="3489736875"/>
                    </a:ext>
                  </a:extLst>
                </a:gridCol>
              </a:tblGrid>
              <a:tr h="422872">
                <a:tc>
                  <a:txBody>
                    <a:bodyPr/>
                    <a:lstStyle/>
                    <a:p>
                      <a:r>
                        <a:rPr lang="en-IN" dirty="0" smtClean="0"/>
                        <a:t>Scale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Estimated</a:t>
                      </a:r>
                      <a:r>
                        <a:rPr lang="en-IN" baseline="0" dirty="0" smtClean="0"/>
                        <a:t> cost per unit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Reason for estimation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043078"/>
                  </a:ext>
                </a:extLst>
              </a:tr>
              <a:tr h="9197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4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unit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975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Retail prices for individual components (ESP32-WROOM-32, MAX30102, DS18B20, OLED, buttons, battery), no bulk discount, manual assembly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34325"/>
                  </a:ext>
                </a:extLst>
              </a:tr>
              <a:tr h="9197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units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750-800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Small bulk-buy discounts on sensors/microcontrollers/display (10–20% off retail), still hand-assembled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98993"/>
                  </a:ext>
                </a:extLst>
              </a:tr>
              <a:tr h="9197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1k units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400-500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Wholesale/factory-direct component pricing (30–50%+ off retail) — the OLED and ESP32-WROOM-32 both drop significantly in bulk — plus custom PCB instead of breadboard/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perfboard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injection-molded casing instead of 3D printing, and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labour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cost spread across a large batch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28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DB80E-E424-80E2-248B-27D43F30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02D5530-CCA2-6070-9C91-1EE1FD374546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WEARABLE HEALTH MONITOR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B73D67F-8CD1-2C77-3087-723E3C5A72D1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83F0559-65F1-3539-8E8E-226EAF79C050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COST ANALYSIS &amp; PROPOSAL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4CE38AE-0C69-6063-E519-9D4FF6189204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8  ·  Medical Innovation &amp; Smart Healthcare  ·  ₹500 Wearable Health Monitor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CB36450-9DF0-FB93-3797-118B9D0AFAD5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your government scheme proposal: the problem, your solution, the cost comparison (₹500 vs ₹5,000), and your proposed pilot (e.g. testing with 50 elderly in one district). Make a simple proposal in 2 -3 sentences.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CB553EF-47A0-0701-6C11-F0F752B610CF}"/>
              </a:ext>
            </a:extLst>
          </p:cNvPr>
          <p:cNvSpPr/>
          <p:nvPr/>
        </p:nvSpPr>
        <p:spPr>
          <a:xfrm>
            <a:off x="365760" y="1929385"/>
            <a:ext cx="11457432" cy="4226317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B3FC56A-9A89-698E-63A0-28E8775AD03C}"/>
              </a:ext>
            </a:extLst>
          </p:cNvPr>
          <p:cNvSpPr/>
          <p:nvPr/>
        </p:nvSpPr>
        <p:spPr>
          <a:xfrm>
            <a:off x="365760" y="1929385"/>
            <a:ext cx="11430000" cy="4226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elderly Indians, especially in tier-2/tier-3 towns and rural areas, lack access to affordable, continuous health monitoring for heart rate and body temperature, putting undiagnosed conditions at risk of going unnoticed until a medical emergency.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 low-cost wearable health monitor (≈₹975 at prototype scale, falling to ≈₹400–500 at 1,000-unit production) </a:t>
            </a:r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a MAX30102 heart-rate/SpO2 sensor, a DS18B20 temperature sensor, an ESP32-WROOM-32 microcontroller, and an OLED display with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buttons </a:t>
            </a:r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lets an elderly wearer or ASHA worker read live vitals on the wrist and automatically logs trends over time via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 roughly a fifth the cost (prototype) to a tenth the cost (at scale) of a commercial ₹5,000 alternative.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Pilot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piloting 50 units with ASHA workers in one district under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Ayushman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Bharat Health &amp; Wellness Centre network, tracking accuracy against commercial devices and patient outcomes over 3 months, with a path to bulk manufacturing to bring the per-unit cost down further before scaling state-wide.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49B97D-2B36-1B12-5119-0080C5A4F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162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54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3363</Words>
  <Application>Microsoft Office PowerPoint</Application>
  <PresentationFormat>Widescreen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Pranav Garg</cp:lastModifiedBy>
  <cp:revision>33</cp:revision>
  <dcterms:created xsi:type="dcterms:W3CDTF">2026-08-04T09:14:55Z</dcterms:created>
  <dcterms:modified xsi:type="dcterms:W3CDTF">2026-09-14T14:50:48Z</dcterms:modified>
</cp:coreProperties>
</file>